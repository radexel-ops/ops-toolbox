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539" r:id="rId2"/>
    <p:sldId id="583" r:id="rId3"/>
    <p:sldId id="760" r:id="rId4"/>
    <p:sldId id="775" r:id="rId5"/>
    <p:sldId id="774" r:id="rId6"/>
    <p:sldId id="776" r:id="rId7"/>
    <p:sldId id="77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병준 노" initials="병노" lastIdx="1" clrIdx="0">
    <p:extLst>
      <p:ext uri="{19B8F6BF-5375-455C-9EA6-DF929625EA0E}">
        <p15:presenceInfo xmlns:p15="http://schemas.microsoft.com/office/powerpoint/2012/main" userId="병준 노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72C4"/>
    <a:srgbClr val="E9E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0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07E35A-49C9-4931-AEC0-CD4A117B4545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ABF5C-0BD6-4FFB-AB4C-E99F3BCFC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191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4940F2-64B4-49CB-9569-DB4F0CBCA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6D7AE-FDCC-4AE2-BE7C-059BFB79F2D2}" type="datetime1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00EDA-FD15-40FB-B8EF-8C99EDA48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C4DF4A-5410-4DB2-AFD7-C9CD8289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28" name="Picture 4" descr="상명대학교 국문 | 상명소개 | 역사·상징 | UI디자인 | 로고">
            <a:extLst>
              <a:ext uri="{FF2B5EF4-FFF2-40B4-BE49-F238E27FC236}">
                <a16:creationId xmlns:a16="http://schemas.microsoft.com/office/drawing/2014/main" id="{013C2508-40B1-400F-8AC4-CEB45EA938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5356" y="0"/>
            <a:ext cx="1986643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942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02C4F6-D1C7-44FD-B540-01BF247E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7950-722A-4B85-819D-5284DA57AD45}" type="datetime1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3384C9-5936-460C-A4BA-7CFD7098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63C04D-D4E1-4B1B-8581-7A2181FC6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8857" y="6356350"/>
            <a:ext cx="381000" cy="365125"/>
          </a:xfrm>
        </p:spPr>
        <p:txBody>
          <a:bodyPr/>
          <a:lstStyle/>
          <a:p>
            <a:fld id="{0A012562-5AC2-4991-9080-ED387B6AB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84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12861-80C5-4F13-946B-0CB4FCFF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D8F0C6-3303-470E-A2A1-9B5119484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5B1FEB-92B7-4C42-8AC9-3C58B8331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24B9F-691E-4C8A-8F6F-36458FE8B1D0}" type="datetime1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36A9C3-0AA3-4070-9351-46A49E04B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7A4FAE-8225-4C53-A1E0-3FDBC273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666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4792A-CDEB-411E-BCE4-D76FBE3D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FC38BC-D01D-42EB-A1D8-1841F8EFCE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5A73A1-E617-497C-9996-7D15F425B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5FBD2A-EC12-448B-8ED2-ED92B877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B978-B498-4124-A30F-D1C279B0A3DB}" type="datetime1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77ABF4-D90A-4305-9848-13D6AFBE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0F30EB-1938-414A-863C-C81FEE2CD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29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7A023-26C2-45D9-A5C3-DCC300BBF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6739EB-5FA0-4963-A7D7-D2A726745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9C372B-CD0B-4AE0-AD2F-7CB63CE63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50BF26-D0A3-4D12-9CD1-39034F705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2999CD-B155-417A-9772-82E7DF476D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926E6D-61BD-4D84-AF01-F339D428B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03D3-43C0-4DD3-BED5-71FB3707ECFB}" type="datetime1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8B8D63-F03B-4272-9B5F-948F0A45E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EEC4883-BEFB-4DF0-BBB0-EC4DF980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547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C7C3BD-3A42-4913-859D-0E2AB5E34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58F74D-31A4-4501-BF47-6BF4FE6FB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F7D2F-0604-4296-9873-117CECBC5EDF}" type="datetime1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84510E-0AB9-42DA-8417-DE92EB055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4C4E47-E2AF-418C-998D-300C31E9B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42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644AAE-F3D5-431F-8C81-82152603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2232B-6B7C-45F5-BC83-346229C44F88}" type="datetime1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1C0623-D469-4F2A-87A9-0DD26FE5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CDB233-F085-4F39-BA52-5440C64D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61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DFF5CE-832E-4C6D-8D90-97967ECB5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CF61E2-C486-4343-9C0C-F1D5FAE7D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C9316C-7BE8-40C9-B680-AE6D143ED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389EB3-7F20-43FF-B644-53C20A0C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F588F-B9FA-48B2-87D6-DE9E53AAB400}" type="datetime1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8CA343-573D-4088-962E-F25959077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A688A-67D7-407E-865B-729BE2EBC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27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D84BC2-A481-4FFB-BDB1-F2CE8DC4A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E2AC65-4DAD-4F55-9D58-5B54D79CA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AE7A19-3609-488F-821F-8E73C934F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864BFA-B910-4BD5-9EB9-0D1B57056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6D817-C452-4A29-942C-26C9FA8995DC}" type="datetime1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EF7B84-3760-41EC-9053-A40B4A1DB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21078B-4D09-41BF-ADE7-1C660465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010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09BC97-B0D4-42A7-AACC-E45A163C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4FE1B0-6B24-4465-8F7D-4E95ECC9A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716F92-D88F-4DE7-9286-3E121ED4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2548-9B61-4C5E-9FAF-578D759C1AAC}" type="datetime1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5428BB-5616-417F-A5DC-1176D721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19C82A-AD7F-45C0-BBB9-78F2E635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78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3F424B-B139-4EBD-AD70-C2FD18E6F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C23783-E1CE-471A-86AF-62E9E7A9D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76941D-D95C-4F3F-A0A8-75FB3E71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608A5-7E37-4856-9945-C135BE623F96}" type="datetime1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836D22-6B70-4299-A3AC-E33E980A9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07E99B-BEC2-45A0-B871-D4AA1144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304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44E5712-D563-4074-BD0A-95D9562BF5A8}"/>
              </a:ext>
            </a:extLst>
          </p:cNvPr>
          <p:cNvCxnSpPr/>
          <p:nvPr userDrawn="1"/>
        </p:nvCxnSpPr>
        <p:spPr>
          <a:xfrm>
            <a:off x="356282" y="801189"/>
            <a:ext cx="11479437" cy="0"/>
          </a:xfrm>
          <a:prstGeom prst="line">
            <a:avLst/>
          </a:prstGeom>
          <a:ln w="28575">
            <a:solidFill>
              <a:srgbClr val="2454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34E9DE01-5FAD-4048-A34F-8DB4D89F1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486979"/>
            <a:ext cx="633549" cy="365125"/>
          </a:xfrm>
        </p:spPr>
        <p:txBody>
          <a:bodyPr/>
          <a:lstStyle/>
          <a:p>
            <a:fld id="{0A012562-5AC2-4991-9080-ED387B6ABB5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85292C67-D3CC-4C9C-A957-1680BC8372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992188"/>
            <a:ext cx="11401425" cy="5275263"/>
          </a:xfrm>
        </p:spPr>
        <p:txBody>
          <a:bodyPr>
            <a:normAutofit/>
          </a:bodyPr>
          <a:lstStyle>
            <a:lvl1pPr>
              <a:defRPr lang="ko-KR" altLang="en-US" sz="1800" b="0" kern="1200" smtClean="0">
                <a:solidFill>
                  <a:schemeClr val="tx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+mj-cs"/>
              </a:defRPr>
            </a:lvl1pPr>
            <a:lvl2pPr>
              <a:defRPr lang="ko-KR" altLang="en-US" sz="1800" b="0" kern="1200" dirty="0" smtClean="0">
                <a:solidFill>
                  <a:schemeClr val="tx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+mj-cs"/>
              </a:defRPr>
            </a:lvl2pPr>
            <a:lvl3pPr>
              <a:defRPr lang="ko-KR" altLang="en-US" sz="1800" b="0" kern="1200" dirty="0" smtClean="0">
                <a:solidFill>
                  <a:schemeClr val="tx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+mj-cs"/>
              </a:defRPr>
            </a:lvl3pPr>
            <a:lvl4pPr>
              <a:defRPr lang="ko-KR" altLang="en-US" sz="1800" b="0" kern="1200" dirty="0" smtClean="0">
                <a:solidFill>
                  <a:schemeClr val="tx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+mj-cs"/>
              </a:defRPr>
            </a:lvl4pPr>
            <a:lvl5pPr>
              <a:defRPr lang="ko-KR" altLang="en-US" sz="1800" b="0" kern="1200" dirty="0" smtClean="0">
                <a:solidFill>
                  <a:schemeClr val="tx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+mj-cs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7" name="제목 10">
            <a:extLst>
              <a:ext uri="{FF2B5EF4-FFF2-40B4-BE49-F238E27FC236}">
                <a16:creationId xmlns:a16="http://schemas.microsoft.com/office/drawing/2014/main" id="{5CD1078B-536A-43C8-B20F-A80E51450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2" y="271694"/>
            <a:ext cx="11479437" cy="534581"/>
          </a:xfrm>
        </p:spPr>
        <p:txBody>
          <a:bodyPr>
            <a:noAutofit/>
          </a:bodyPr>
          <a:lstStyle>
            <a:lvl1pPr>
              <a:defRPr sz="2500" b="1">
                <a:latin typeface="08서울남산체 B" panose="02020603020101020101" pitchFamily="18" charset="-127"/>
                <a:ea typeface="08서울남산체 B" panose="020206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5476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7D4779-6CD0-4E64-BFA2-5DF16807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3EEB34-9A64-4269-848A-65727968E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3C9E48-587C-440F-ABA6-74521E0FA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2BDA7-8099-4494-8633-8BA4A5BF3648}" type="datetime1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5C133E-7D6B-48D5-889C-CBA39C304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25FB15-709B-4F59-8148-F0002EF25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12562-5AC2-4991-9080-ED387B6AB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316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7991B1-4635-4DB1-B88D-F409B21D1E3A}"/>
              </a:ext>
            </a:extLst>
          </p:cNvPr>
          <p:cNvSpPr txBox="1"/>
          <p:nvPr/>
        </p:nvSpPr>
        <p:spPr>
          <a:xfrm>
            <a:off x="1517010" y="2279841"/>
            <a:ext cx="915814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0" dirty="0">
                <a:latin typeface="Arial" panose="020B0604020202020204" pitchFamily="34" charset="0"/>
                <a:cs typeface="Arial" panose="020B0604020202020204" pitchFamily="34" charset="0"/>
              </a:rPr>
              <a:t> AI </a:t>
            </a:r>
            <a:r>
              <a:rPr lang="ko-KR" altLang="en-US" sz="5000" dirty="0">
                <a:latin typeface="Arial" panose="020B0604020202020204" pitchFamily="34" charset="0"/>
                <a:cs typeface="Arial" panose="020B0604020202020204" pitchFamily="34" charset="0"/>
              </a:rPr>
              <a:t>기반 </a:t>
            </a:r>
            <a:r>
              <a:rPr lang="en-US" altLang="ko-KR" sz="5000" dirty="0">
                <a:latin typeface="Arial" panose="020B0604020202020204" pitchFamily="34" charset="0"/>
                <a:cs typeface="Arial" panose="020B0604020202020204" pitchFamily="34" charset="0"/>
              </a:rPr>
              <a:t>Monte Carlo </a:t>
            </a:r>
            <a:r>
              <a:rPr lang="ko-KR" altLang="en-US" sz="5000" dirty="0">
                <a:latin typeface="Arial" panose="020B0604020202020204" pitchFamily="34" charset="0"/>
                <a:cs typeface="Arial" panose="020B0604020202020204" pitchFamily="34" charset="0"/>
              </a:rPr>
              <a:t>선량 계산 </a:t>
            </a:r>
            <a:br>
              <a:rPr lang="en-US" altLang="ko-KR" sz="5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5000" dirty="0">
                <a:latin typeface="Arial" panose="020B0604020202020204" pitchFamily="34" charset="0"/>
                <a:cs typeface="Arial" panose="020B0604020202020204" pitchFamily="34" charset="0"/>
              </a:rPr>
              <a:t>가속화 방안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096D8-5AEF-4902-9939-E100DAADF781}"/>
              </a:ext>
            </a:extLst>
          </p:cNvPr>
          <p:cNvSpPr txBox="1"/>
          <p:nvPr/>
        </p:nvSpPr>
        <p:spPr>
          <a:xfrm>
            <a:off x="4568706" y="4650378"/>
            <a:ext cx="3228768" cy="183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500" dirty="0"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ko-KR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박 한 샘</a:t>
            </a:r>
            <a:br>
              <a:rPr lang="en-US" altLang="ko-KR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ko-K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sz="2200" dirty="0">
                <a:latin typeface="Arial" panose="020B0604020202020204" pitchFamily="34" charset="0"/>
                <a:cs typeface="Arial" panose="020B0604020202020204" pitchFamily="34" charset="0"/>
              </a:rPr>
              <a:t>Dept. of Software, SMU.</a:t>
            </a:r>
          </a:p>
          <a:p>
            <a:pPr algn="ctr"/>
            <a:endParaRPr lang="en-US" altLang="ko-K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sz="2200" dirty="0">
                <a:latin typeface="Arial" panose="020B0604020202020204" pitchFamily="34" charset="0"/>
                <a:cs typeface="Arial" panose="020B0604020202020204" pitchFamily="34" charset="0"/>
              </a:rPr>
              <a:t>saem@smu.ac.kr</a:t>
            </a:r>
            <a:endParaRPr lang="ko-KR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092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43D896-CAE3-4855-91F6-8DA1D983D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FEB97E-B807-4D31-806A-CF039F24AB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992189"/>
            <a:ext cx="11401425" cy="549479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연구 배경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Monte Carlo (MC)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방사선량 계산 방법은 물리적 모델링 정확도가 높지만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계산 시간이 매우 오래 걸림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특히 고해상도 선량 분포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(1mm³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이하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)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계산 시 시간이 기하급수적으로 증가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임상적 활용을 위해서는 정확성 유지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+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계산 시간 단축이 필수적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연구 목적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AI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기반 저해상도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Dose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데이터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(3mm^3)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→ 고해상도 데이터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(1mm^3)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변환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학습 모델을 기반으로 저해상도 데이터를 변환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연산 효율 확보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9B8FA20-513C-47E2-9CD2-976C6F20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</a:t>
            </a:r>
            <a:r>
              <a:rPr lang="en-US" altLang="ko-KR" dirty="0"/>
              <a:t> </a:t>
            </a:r>
            <a:r>
              <a:rPr lang="ko-KR" altLang="en-US" dirty="0"/>
              <a:t>배경 및 목적</a:t>
            </a:r>
          </a:p>
        </p:txBody>
      </p:sp>
    </p:spTree>
    <p:extLst>
      <p:ext uri="{BB962C8B-B14F-4D97-AF65-F5344CB8AC3E}">
        <p14:creationId xmlns:p14="http://schemas.microsoft.com/office/powerpoint/2010/main" val="2020391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43D896-CAE3-4855-91F6-8DA1D983D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FEB97E-B807-4D31-806A-CF039F24AB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단일 저해상도 데이터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고해상도 변환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생성 모델 활용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방법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: 3mm dose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데이터를 입력으로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1mm dose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데이터 출력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모델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: 2D-</a:t>
            </a:r>
            <a:r>
              <a:rPr lang="en-US" altLang="ko-KR" dirty="0">
                <a:latin typeface="맑은 고딕" panose="020F0302020204030204"/>
                <a:ea typeface="맑은 고딕" panose="020B0503020000020004" pitchFamily="50" charset="-127"/>
              </a:rPr>
              <a:t>Super-Resolution Generative Adversarial Network (SRGAN), 2D-ESRGAN </a:t>
            </a:r>
            <a:r>
              <a:rPr lang="ko-KR" altLang="en-US" dirty="0">
                <a:latin typeface="맑은 고딕" panose="020F0302020204030204"/>
                <a:ea typeface="맑은 고딕" panose="020B0503020000020004" pitchFamily="50" charset="-127"/>
              </a:rPr>
              <a:t>등</a:t>
            </a:r>
            <a:endParaRPr lang="en-US" altLang="ko-KR" dirty="0">
              <a:latin typeface="맑은 고딕" panose="020F0302020204030204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맑은 고딕" panose="020F0302020204030204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F0302020204030204"/>
                <a:ea typeface="맑은 고딕" panose="020B0503020000020004" pitchFamily="50" charset="-127"/>
                <a:cs typeface="Arial" panose="020B0604020202020204" pitchFamily="34" charset="0"/>
              </a:rPr>
              <a:t>저해상도</a:t>
            </a:r>
            <a:r>
              <a:rPr lang="en-US" altLang="ko-KR" dirty="0">
                <a:latin typeface="맑은 고딕" panose="020F0302020204030204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dirty="0">
                <a:latin typeface="맑은 고딕" panose="020F0302020204030204"/>
                <a:ea typeface="맑은 고딕" panose="020B0503020000020004" pitchFamily="50" charset="-127"/>
                <a:cs typeface="Arial" panose="020B0604020202020204" pitchFamily="34" charset="0"/>
              </a:rPr>
              <a:t>고해상도 페어 데이터 학습</a:t>
            </a:r>
            <a:endParaRPr lang="en-US" altLang="ko-KR" dirty="0">
              <a:latin typeface="맑은 고딕" panose="020F0302020204030204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F0302020204030204"/>
                <a:ea typeface="맑은 고딕" panose="020B0503020000020004" pitchFamily="50" charset="-127"/>
                <a:cs typeface="Arial" panose="020B0604020202020204" pitchFamily="34" charset="0"/>
              </a:rPr>
              <a:t>방법</a:t>
            </a:r>
            <a:r>
              <a:rPr lang="en-US" altLang="ko-KR" dirty="0">
                <a:latin typeface="맑은 고딕" panose="020F0302020204030204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3mm dose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데이터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입력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를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1mm dose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데이터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정답지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로 지도학습</a:t>
            </a:r>
            <a:b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즉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새로운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3mm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데이터가 </a:t>
            </a:r>
            <a:r>
              <a:rPr lang="ko-KR" altLang="en-US" dirty="0" err="1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들어올때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1mm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고해상도 데이터 예측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모델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: U-net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RCAN, </a:t>
            </a:r>
            <a:r>
              <a:rPr lang="en-US" altLang="ko-KR" dirty="0" err="1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SwinIR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등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기존 선행 연구 자료 분석 결과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 저해상도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-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고해상도 페어 데이터 학습 방법이 더욱 효율적이라고 판단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Papers with Code – Super-Resolution: https://github.com/topics/super-resolution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Deep learning for medical imaging super-resolution: A comprehensive review (2025) </a:t>
            </a:r>
            <a:r>
              <a:rPr lang="ko-KR" altLang="en-US" dirty="0"/>
              <a:t>논문 등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9B8FA20-513C-47E2-9CD2-976C6F20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적용 방안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6E5C562-7E3C-4AA0-8BBC-72607A474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913" y="2545777"/>
            <a:ext cx="3180806" cy="143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2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43D896-CAE3-4855-91F6-8DA1D983D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FEB97E-B807-4D31-806A-CF039F24AB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적용 모델 요약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해당 모델 중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ESRGAN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및 </a:t>
            </a:r>
            <a:b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U-Net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 모델 적용 후</a:t>
            </a:r>
            <a:b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결과 비교 평가 예정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대안책으로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Pix2Pix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도 고려</a:t>
            </a:r>
            <a:b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중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9B8FA20-513C-47E2-9CD2-976C6F20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적용 방안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4D4CAA3-33FD-4AFA-ADBF-7CA9D4558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706098"/>
              </p:ext>
            </p:extLst>
          </p:nvPr>
        </p:nvGraphicFramePr>
        <p:xfrm>
          <a:off x="4064000" y="1115782"/>
          <a:ext cx="7886700" cy="5371196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477202014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52799418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099669189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41054850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62673717"/>
                    </a:ext>
                  </a:extLst>
                </a:gridCol>
              </a:tblGrid>
              <a:tr h="39998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/>
                        <a:t>모델</a:t>
                      </a:r>
                    </a:p>
                  </a:txBody>
                  <a:tcPr marL="46291" marR="46291" marT="23145" marB="2314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/>
                        <a:t>주요 특징</a:t>
                      </a:r>
                    </a:p>
                  </a:txBody>
                  <a:tcPr marL="46291" marR="46291" marT="23145" marB="2314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/>
                        <a:t>장점</a:t>
                      </a:r>
                    </a:p>
                  </a:txBody>
                  <a:tcPr marL="46291" marR="46291" marT="23145" marB="2314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/>
                        <a:t>단점</a:t>
                      </a:r>
                    </a:p>
                  </a:txBody>
                  <a:tcPr marL="46291" marR="46291" marT="23145" marB="2314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/>
                        <a:t>비고</a:t>
                      </a:r>
                    </a:p>
                  </a:txBody>
                  <a:tcPr marL="46291" marR="46291" marT="23145" marB="2314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856030"/>
                  </a:ext>
                </a:extLst>
              </a:tr>
              <a:tr h="914246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SRGAN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/>
                        <a:t>최초의 </a:t>
                      </a:r>
                      <a:r>
                        <a:rPr lang="en-US" sz="900" dirty="0"/>
                        <a:t>GAN </a:t>
                      </a:r>
                      <a:r>
                        <a:rPr lang="ko-KR" altLang="en-US" sz="900" dirty="0"/>
                        <a:t>기반 </a:t>
                      </a:r>
                      <a:r>
                        <a:rPr lang="en-US" sz="900" dirty="0"/>
                        <a:t>SR </a:t>
                      </a:r>
                      <a:r>
                        <a:rPr lang="ko-KR" altLang="en-US" sz="900" dirty="0"/>
                        <a:t>모델</a:t>
                      </a:r>
                      <a:endParaRPr lang="en-US" altLang="ko-KR" sz="90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/>
                        <a:t>복합 </a:t>
                      </a:r>
                      <a:r>
                        <a:rPr lang="en-US" altLang="ko-KR" sz="900" dirty="0"/>
                        <a:t>Loss </a:t>
                      </a:r>
                      <a:r>
                        <a:rPr lang="ko-KR" altLang="en-US" sz="900" dirty="0"/>
                        <a:t>활용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(</a:t>
                      </a:r>
                      <a:r>
                        <a:rPr lang="en-US" sz="900" dirty="0"/>
                        <a:t>MSE + Adversarial + Perceptual loss)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/>
                        <a:t>시각적으로 자연스러운 복원</a:t>
                      </a:r>
                      <a:endParaRPr lang="en-US" altLang="ko-KR" sz="90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/>
                        <a:t>빠른 추론 속도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/>
                        <a:t>구조적 왜곡 발생 가능성</a:t>
                      </a:r>
                      <a:endParaRPr lang="en-US" altLang="ko-KR" sz="90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900" dirty="0"/>
                        <a:t>Detail sharpness </a:t>
                      </a:r>
                      <a:r>
                        <a:rPr lang="ko-KR" altLang="en-US" sz="900" dirty="0"/>
                        <a:t>부족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VGG </a:t>
                      </a:r>
                      <a:r>
                        <a:rPr lang="ko-KR" altLang="en-US" sz="900"/>
                        <a:t>기반 </a:t>
                      </a:r>
                      <a:r>
                        <a:rPr lang="en-US" sz="900"/>
                        <a:t>perceptual loss </a:t>
                      </a:r>
                      <a:r>
                        <a:rPr lang="ko-KR" altLang="en-US" sz="900"/>
                        <a:t>사용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212056"/>
                  </a:ext>
                </a:extLst>
              </a:tr>
              <a:tr h="914246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ESRGAN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SRGAN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개선 버전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Residual-in-Residual Dense Block(RRDB)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사용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-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더 선명하고 정밀한 구조 복원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-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안정된 학습과 향상된 디테일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학습 시간 증가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</a:rPr>
                        <a:t>과적합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 위험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1">
                          <a:solidFill>
                            <a:srgbClr val="FF0000"/>
                          </a:solidFill>
                        </a:rPr>
                        <a:t>많은 논문과 의료 </a:t>
                      </a:r>
                      <a:r>
                        <a:rPr lang="en-US" altLang="ko-KR" sz="900" b="1">
                          <a:solidFill>
                            <a:srgbClr val="FF0000"/>
                          </a:solidFill>
                        </a:rPr>
                        <a:t>SR</a:t>
                      </a:r>
                      <a:r>
                        <a:rPr lang="ko-KR" altLang="en-US" sz="900" b="1">
                          <a:solidFill>
                            <a:srgbClr val="FF0000"/>
                          </a:solidFill>
                        </a:rPr>
                        <a:t>에 사용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012061"/>
                  </a:ext>
                </a:extLst>
              </a:tr>
              <a:tr h="914246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U-Net SR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Encoder-Decoder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기반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Skip connection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활용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구조 보존에 강함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학습 안정성 높음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다양한 해상도 가능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Detail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이 부족할 수 있음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Blur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발생 가능성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의료 영상 분할에 자주 사용됨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52888"/>
                  </a:ext>
                </a:extLst>
              </a:tr>
              <a:tr h="74282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Pix2Pix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/>
                        <a:t>조건부 </a:t>
                      </a:r>
                      <a:r>
                        <a:rPr lang="en-US" altLang="ko-KR" sz="900" dirty="0"/>
                        <a:t>GAN (</a:t>
                      </a:r>
                      <a:r>
                        <a:rPr lang="en-US" altLang="ko-KR" sz="900" dirty="0" err="1"/>
                        <a:t>cGAN</a:t>
                      </a:r>
                      <a:r>
                        <a:rPr lang="en-US" altLang="ko-KR" sz="900" dirty="0"/>
                        <a:t>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900" dirty="0"/>
                        <a:t>LR → HR </a:t>
                      </a:r>
                      <a:r>
                        <a:rPr lang="ko-KR" altLang="en-US" sz="900" dirty="0"/>
                        <a:t>매핑 학습에 강함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900" dirty="0"/>
                        <a:t>paired dataset</a:t>
                      </a:r>
                      <a:r>
                        <a:rPr lang="ko-KR" altLang="en-US" sz="900" dirty="0"/>
                        <a:t>에 최적</a:t>
                      </a:r>
                      <a:endParaRPr lang="en-US" altLang="ko-KR" sz="90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/>
                        <a:t>경계선이 뚜렷한 결과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dirty="0"/>
                        <a:t>Unpaired data </a:t>
                      </a:r>
                      <a:r>
                        <a:rPr lang="ko-KR" altLang="en-US" sz="900" dirty="0"/>
                        <a:t>사용 불가</a:t>
                      </a:r>
                      <a:endParaRPr lang="en-US" altLang="ko-KR" sz="90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dirty="0"/>
                        <a:t>overfitting </a:t>
                      </a:r>
                      <a:r>
                        <a:rPr lang="ko-KR" altLang="en-US" sz="900" dirty="0"/>
                        <a:t>우려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paired dose map</a:t>
                      </a:r>
                      <a:r>
                        <a:rPr lang="ko-KR" altLang="en-US" sz="900"/>
                        <a:t>에 적합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174116"/>
                  </a:ext>
                </a:extLst>
              </a:tr>
              <a:tr h="914246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RCAN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- Channel Attention </a:t>
                      </a:r>
                      <a:r>
                        <a:rPr lang="ko-KR" altLang="en-US" sz="900" dirty="0"/>
                        <a:t>기반 </a:t>
                      </a:r>
                      <a:r>
                        <a:rPr lang="en-US" sz="900" dirty="0"/>
                        <a:t>SR </a:t>
                      </a:r>
                      <a:r>
                        <a:rPr lang="ko-KR" altLang="en-US" sz="900" dirty="0"/>
                        <a:t>모델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900" dirty="0"/>
                        <a:t>Fine structure </a:t>
                      </a:r>
                      <a:r>
                        <a:rPr lang="ko-KR" altLang="en-US" sz="900" dirty="0"/>
                        <a:t>복원 우수</a:t>
                      </a:r>
                      <a:endParaRPr lang="en-US" altLang="ko-KR" sz="90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/>
                        <a:t>깊은 네트워크 구조 가능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/>
                        <a:t>학습 어려움</a:t>
                      </a:r>
                      <a:endParaRPr lang="en-US" altLang="ko-KR" sz="90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/>
                        <a:t>파라미터 많음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구조가 정교한 경우 적합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11955"/>
                  </a:ext>
                </a:extLst>
              </a:tr>
              <a:tr h="571404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err="1"/>
                        <a:t>SwinIR</a:t>
                      </a:r>
                      <a:endParaRPr lang="en-US" sz="900" dirty="0"/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- Transformer </a:t>
                      </a:r>
                      <a:r>
                        <a:rPr lang="ko-KR" altLang="en-US" sz="900"/>
                        <a:t>기반 </a:t>
                      </a:r>
                      <a:r>
                        <a:rPr lang="en-US" sz="900"/>
                        <a:t>SR </a:t>
                      </a:r>
                      <a:r>
                        <a:rPr lang="ko-KR" altLang="en-US" sz="900"/>
                        <a:t>모델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/>
                        <a:t>장거리 종속성 반영</a:t>
                      </a:r>
                      <a:endParaRPr lang="en-US" altLang="ko-KR" sz="90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/>
                        <a:t>매우 고품질 결과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 err="1"/>
                        <a:t>연산량</a:t>
                      </a:r>
                      <a:r>
                        <a:rPr lang="ko-KR" altLang="en-US" sz="900" dirty="0"/>
                        <a:t> 많음</a:t>
                      </a:r>
                      <a:endParaRPr lang="en-US" altLang="ko-KR" sz="90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/>
                        <a:t>추론 느림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최신 모델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자원 충분 시 적합</a:t>
                      </a:r>
                    </a:p>
                  </a:txBody>
                  <a:tcPr marL="46291" marR="46291" marT="23145" marB="2314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64236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559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43D896-CAE3-4855-91F6-8DA1D983D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FEB97E-B807-4D31-806A-CF039F24AB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992189"/>
            <a:ext cx="11401425" cy="549479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데이터 셋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Monte Carlo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시뮬레이션 데이터 셋 제공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3mm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총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221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개 데이터 셋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(Data shape(width x height x depth):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113, 225, 76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1mm 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총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221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개 데이터 셋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(Data shape(width x height x depth): 338, 225, 227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데이터 처리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- 3mm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과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1mm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의 위치적 특성을 반영한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depth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슬라이스 해서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2d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이미지 추출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아래 예시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: 3mm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의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depth index * 3 = 1mm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의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depth index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로 처리 </a:t>
            </a:r>
            <a:b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동일한 규격의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dose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이미지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확보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 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9B8FA20-513C-47E2-9CD2-976C6F20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셋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243F33-1C81-43A4-88F5-DAB2AFC04B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343"/>
          <a:stretch/>
        </p:blipFill>
        <p:spPr>
          <a:xfrm>
            <a:off x="829126" y="4293511"/>
            <a:ext cx="5152516" cy="25585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7B4927-B031-4E7B-87CE-376F74D06A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343"/>
          <a:stretch/>
        </p:blipFill>
        <p:spPr>
          <a:xfrm>
            <a:off x="6332763" y="4299406"/>
            <a:ext cx="5152516" cy="25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704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43D896-CAE3-4855-91F6-8DA1D983D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FEB97E-B807-4D31-806A-CF039F24AB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992189"/>
            <a:ext cx="11401425" cy="549479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데이터 처리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(Cont’d)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2D Contour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의 경계를 더욱 </a:t>
            </a:r>
            <a:b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</a:b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선명히 해서 학습하도록 진행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원본 데이터 자체가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3D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이므로</a:t>
            </a:r>
            <a:b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</a:b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그대로 처리 해도 좋을 듯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상의가 필요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…</a:t>
            </a: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9B8FA20-513C-47E2-9CD2-976C6F20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셋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8304EFD-9C32-4387-9798-7AD00CA064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05" t="50558"/>
          <a:stretch/>
        </p:blipFill>
        <p:spPr>
          <a:xfrm>
            <a:off x="4836215" y="3774377"/>
            <a:ext cx="6469271" cy="254750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F653D8A-35F9-48E4-8785-77A041FE20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396"/>
          <a:stretch/>
        </p:blipFill>
        <p:spPr>
          <a:xfrm>
            <a:off x="4403841" y="992189"/>
            <a:ext cx="7427850" cy="260740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275571-D822-4BF6-967C-7CA5B2ABA39C}"/>
              </a:ext>
            </a:extLst>
          </p:cNvPr>
          <p:cNvSpPr/>
          <p:nvPr/>
        </p:nvSpPr>
        <p:spPr>
          <a:xfrm>
            <a:off x="192481" y="6346376"/>
            <a:ext cx="123464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ko-KR" altLang="en-US" dirty="0">
                <a:solidFill>
                  <a:srgbClr val="FF0000"/>
                </a:solidFill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즉</a:t>
            </a:r>
            <a:r>
              <a:rPr lang="en-US" altLang="ko-KR" dirty="0">
                <a:solidFill>
                  <a:srgbClr val="FF0000"/>
                </a:solidFill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가능하다면</a:t>
            </a:r>
            <a:r>
              <a:rPr lang="en-US" altLang="ko-KR" dirty="0">
                <a:solidFill>
                  <a:srgbClr val="FF0000"/>
                </a:solidFill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, 3mm </a:t>
            </a:r>
            <a:r>
              <a:rPr lang="ko-KR" altLang="en-US" dirty="0">
                <a:solidFill>
                  <a:srgbClr val="FF0000"/>
                </a:solidFill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이미지의 분포와 </a:t>
            </a:r>
            <a:r>
              <a:rPr lang="en-US" altLang="ko-KR" dirty="0">
                <a:solidFill>
                  <a:srgbClr val="FF0000"/>
                </a:solidFill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1mm</a:t>
            </a:r>
            <a:r>
              <a:rPr lang="ko-KR" altLang="en-US" dirty="0">
                <a:solidFill>
                  <a:srgbClr val="FF0000"/>
                </a:solidFill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의 분포의 차이를 잘 학습시킬 수 있도록 데이터 모델링이 필요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3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43D896-CAE3-4855-91F6-8DA1D983D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2562-5AC2-4991-9080-ED387B6ABB59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FEB97E-B807-4D31-806A-CF039F24AB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992189"/>
            <a:ext cx="11401425" cy="549479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Toy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Example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 실험 결과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(ESR-GAN-paired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dataset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 모델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100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개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 2D Dose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 이미지 활용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90% Training, 10% Test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9B8FA20-513C-47E2-9CD2-976C6F20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126FFD-81F6-4D83-B5F7-C39FA5181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57" y="2090946"/>
            <a:ext cx="5806743" cy="196490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AC1122D-600E-4AA5-95F0-496106465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302" y="2090946"/>
            <a:ext cx="5806743" cy="19649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35C29A4-CD10-4541-9F69-BE0CA5DBF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57" y="4241769"/>
            <a:ext cx="5806743" cy="19649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912E9BF-59F5-402E-B235-7EC006E3A3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534" y="4241768"/>
            <a:ext cx="5806743" cy="1964909"/>
          </a:xfrm>
          <a:prstGeom prst="rect">
            <a:avLst/>
          </a:prstGeom>
        </p:spPr>
      </p:pic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0A93E27C-9814-403F-B96F-38C6642836A8}"/>
              </a:ext>
            </a:extLst>
          </p:cNvPr>
          <p:cNvSpPr txBox="1">
            <a:spLocks/>
          </p:cNvSpPr>
          <p:nvPr/>
        </p:nvSpPr>
        <p:spPr>
          <a:xfrm>
            <a:off x="505913" y="6315580"/>
            <a:ext cx="11401425" cy="4517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ko-KR" altLang="en-US" sz="1800" b="0" kern="1200" smtClean="0">
                <a:solidFill>
                  <a:schemeClr val="tx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+mj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b="0" kern="1200" dirty="0" smtClean="0">
                <a:solidFill>
                  <a:schemeClr val="tx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+mj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b="0" kern="1200" dirty="0" smtClean="0">
                <a:solidFill>
                  <a:schemeClr val="tx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+mj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b="0" kern="1200" dirty="0" smtClean="0">
                <a:solidFill>
                  <a:schemeClr val="tx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+mj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b="0" kern="1200" dirty="0" smtClean="0">
                <a:solidFill>
                  <a:schemeClr val="tx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+mj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일부 에러 존재하지만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,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</a:rPr>
              <a:t>모델 튜닝을 통한 복원 가능성 높음 </a:t>
            </a:r>
            <a:r>
              <a:rPr lang="en-US" altLang="ko-KR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U-Net </a:t>
            </a:r>
            <a:r>
              <a:rPr lang="ko-KR" altLang="en-US" dirty="0">
                <a:latin typeface="08SeoulNamsan B" panose="02020603020101020101" pitchFamily="18" charset="-127"/>
                <a:ea typeface="08SeoulNamsan B" panose="0202060302010102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모델과의 비교 필요</a:t>
            </a: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08SeoulNamsan B" panose="02020603020101020101" pitchFamily="18" charset="-127"/>
              <a:ea typeface="08SeoulNamsan B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063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23275</TotalTime>
  <Words>633</Words>
  <Application>Microsoft Office PowerPoint</Application>
  <PresentationFormat>와이드스크린</PresentationFormat>
  <Paragraphs>114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08SeoulNamsan B</vt:lpstr>
      <vt:lpstr>08서울남산체 B</vt:lpstr>
      <vt:lpstr>맑은 고딕</vt:lpstr>
      <vt:lpstr>Arial</vt:lpstr>
      <vt:lpstr>Wingdings</vt:lpstr>
      <vt:lpstr>Office 테마</vt:lpstr>
      <vt:lpstr>PowerPoint 프레젠테이션</vt:lpstr>
      <vt:lpstr>연구 배경 및 목적</vt:lpstr>
      <vt:lpstr>AI 적용 방안</vt:lpstr>
      <vt:lpstr>AI 적용 방안</vt:lpstr>
      <vt:lpstr>데이터 셋</vt:lpstr>
      <vt:lpstr>데이터 셋</vt:lpstr>
      <vt:lpstr>실험결과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ByeongjoonNoh</dc:creator>
  <cp:lastModifiedBy>Admin</cp:lastModifiedBy>
  <cp:revision>1498</cp:revision>
  <cp:lastPrinted>2024-09-25T19:06:45Z</cp:lastPrinted>
  <dcterms:created xsi:type="dcterms:W3CDTF">2023-02-08T10:52:20Z</dcterms:created>
  <dcterms:modified xsi:type="dcterms:W3CDTF">2025-08-05T01:25:44Z</dcterms:modified>
</cp:coreProperties>
</file>